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7A20"/>
          </a:solidFill>
          <a:ln w="12700">
            <a:solidFill>
              <a:srgbClr val="F47A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47A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HEALTHCARE PARTNERSHIP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7772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50" kern="0" dirty="0">
                <a:solidFill>
                  <a:srgbClr val="F47A20"/>
                </a:solidFill>
              </a:rPr>
              <a:t>LOST LIMB RIDERS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94360" y="1325880"/>
            <a:ext cx="6583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Peer connection beyond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the clinical encounter.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21792" y="320040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BDC6"/>
                </a:solidFill>
              </a:rPr>
              <a:t>Exploring a referral and community-support relationship with Trinity Regional Medical Center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1792" y="4315968"/>
            <a:ext cx="1920240" cy="0"/>
          </a:xfrm>
          <a:prstGeom prst="line">
            <a:avLst/>
          </a:prstGeom>
          <a:noFill/>
          <a:ln w="38100">
            <a:solidFill>
              <a:srgbClr val="F47A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461772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No donation ask.  No replacement of clinical care.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 simple question: can patients know we are here?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60920" y="685800"/>
            <a:ext cx="4251960" cy="5440680"/>
          </a:xfrm>
          <a:prstGeom prst="rect">
            <a:avLst/>
          </a:prstGeom>
          <a:solidFill>
            <a:srgbClr val="25282D"/>
          </a:solidFill>
          <a:ln w="12700">
            <a:solidFill>
              <a:srgbClr val="3A3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25512" y="850392"/>
            <a:ext cx="73152" cy="5111496"/>
          </a:xfrm>
          <a:prstGeom prst="rect">
            <a:avLst/>
          </a:prstGeom>
          <a:solidFill>
            <a:srgbClr val="F47A20"/>
          </a:solidFill>
          <a:ln w="12700">
            <a:solidFill>
              <a:srgbClr val="F47A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0" y="10972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LIVED EXPERIENCE + COMMUNITY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0" y="1828800"/>
            <a:ext cx="3566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B8BDC6"/>
                </a:solidFill>
              </a:rPr>
              <a:t>Visual: amputee / motorcycles / peer connection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" y="647395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70" kern="0" dirty="0">
                <a:solidFill>
                  <a:srgbClr val="777D86"/>
                </a:solidFill>
              </a:rPr>
              <a:t>LOST LIMB RIDERS  •  I CAN. I WILL.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64240" y="644652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D86"/>
                </a:solidFill>
              </a:rPr>
              <a:t>01</a:t>
            </a:r>
            <a:endParaRPr lang="en-US" sz="900" dirty="0"/>
          </a:p>
        </p:txBody>
      </p:sp>
      <p:pic>
        <p:nvPicPr>
          <p:cNvPr id="15" name="Picture 14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7432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7A20"/>
          </a:solidFill>
          <a:ln w="12700">
            <a:solidFill>
              <a:srgbClr val="F47A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47A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D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21792" y="135331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16A"/>
                </a:solidFill>
              </a:rPr>
              <a:t>Start with Trinity’s process—not with assumptions.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20574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7A20"/>
                </a:solidFill>
              </a:rPr>
              <a:t>We want to understand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2487168"/>
            <a:ext cx="5577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buSzPct val="100000"/>
              <a:buChar char="•"/>
            </a:pPr>
            <a:r>
              <a:rPr lang="en-US" sz="1800" dirty="0">
                <a:solidFill>
                  <a:srgbClr val="1B1D20"/>
                </a:solidFill>
              </a:rPr>
              <a:t>What already works for patients facing limb loss.</a:t>
            </a:r>
            <a:endParaRPr lang="en-US" sz="1800" dirty="0"/>
          </a:p>
          <a:p>
            <a:pPr marL="203200" indent="-203200">
              <a:buSzPct val="100000"/>
              <a:buChar char="•"/>
            </a:pPr>
            <a:r>
              <a:rPr lang="en-US" sz="1800" dirty="0">
                <a:solidFill>
                  <a:srgbClr val="1B1D20"/>
                </a:solidFill>
              </a:rPr>
              <a:t>Where patients and families may experience a gap.</a:t>
            </a:r>
            <a:endParaRPr lang="en-US" sz="1800" dirty="0"/>
          </a:p>
          <a:p>
            <a:pPr marL="203200" indent="-203200">
              <a:buSzPct val="100000"/>
              <a:buChar char="•"/>
            </a:pPr>
            <a:r>
              <a:rPr lang="en-US" sz="1800" dirty="0">
                <a:solidFill>
                  <a:srgbClr val="1B1D20"/>
                </a:solidFill>
              </a:rPr>
              <a:t>How people are connected to rehabilitation, prosthetic and community resources.</a:t>
            </a:r>
            <a:endParaRPr lang="en-US" sz="1800" dirty="0"/>
          </a:p>
          <a:p>
            <a:pPr marL="203200" indent="-203200">
              <a:buSzPct val="100000"/>
              <a:buChar char="•"/>
            </a:pPr>
            <a:r>
              <a:rPr lang="en-US" sz="1800" dirty="0">
                <a:solidFill>
                  <a:srgbClr val="1B1D20"/>
                </a:solidFill>
              </a:rPr>
              <a:t>Whether peer connection could complement the care already being delivered.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903720" y="1965960"/>
            <a:ext cx="4617720" cy="3886200"/>
          </a:xfrm>
          <a:prstGeom prst="rect">
            <a:avLst/>
          </a:prstGeom>
          <a:solidFill>
            <a:srgbClr val="25282D"/>
          </a:solidFill>
          <a:ln w="12700">
            <a:solidFill>
              <a:srgbClr val="3A3E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68312" y="2130552"/>
            <a:ext cx="73152" cy="3557016"/>
          </a:xfrm>
          <a:prstGeom prst="rect">
            <a:avLst/>
          </a:prstGeom>
          <a:solidFill>
            <a:srgbClr val="F47A20"/>
          </a:solidFill>
          <a:ln w="12700">
            <a:solidFill>
              <a:srgbClr val="F47A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0" y="237744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CLINICAL CARE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315200" y="3108960"/>
            <a:ext cx="3931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B8BDC6"/>
                </a:solidFill>
              </a:rPr>
              <a:t>Visual: prosthetic rehabilitation / hospital team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647395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70" kern="0" dirty="0">
                <a:solidFill>
                  <a:srgbClr val="7A8088"/>
                </a:solidFill>
              </a:rPr>
              <a:t>LOST LIMB RIDERS  •  I CAN. I WILL.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064240" y="644652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088"/>
                </a:solidFill>
              </a:rPr>
              <a:t>02</a:t>
            </a:r>
            <a:endParaRPr lang="en-US" sz="900" dirty="0"/>
          </a:p>
        </p:txBody>
      </p:sp>
      <p:pic>
        <p:nvPicPr>
          <p:cNvPr id="14" name="Picture 13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0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7A20"/>
          </a:solidFill>
          <a:ln w="12700">
            <a:solidFill>
              <a:srgbClr val="F47A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47A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Clinical recovery is only part of the transition.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21792" y="135331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BDC6"/>
                </a:solidFill>
              </a:rPr>
              <a:t>Lost Limb Riders exists in the space after—and around—medical care.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3337560" cy="3063240"/>
          </a:xfrm>
          <a:prstGeom prst="roundRect">
            <a:avLst>
              <a:gd name="adj" fmla="val 2388"/>
            </a:avLst>
          </a:prstGeom>
          <a:solidFill>
            <a:srgbClr val="1D2024"/>
          </a:solidFill>
          <a:ln w="12700">
            <a:solidFill>
              <a:srgbClr val="3438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4231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7A20"/>
                </a:solidFill>
              </a:rPr>
              <a:t>HOSPITAL + REHAB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2971800"/>
            <a:ext cx="2651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Medical treatment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Rehabilitation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Prosthetic care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Discharge planning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160520" y="3154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7A20"/>
                </a:solidFill>
              </a:rPr>
              <a:t>→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4983480" y="2057400"/>
            <a:ext cx="2834640" cy="3063240"/>
          </a:xfrm>
          <a:prstGeom prst="roundRect">
            <a:avLst>
              <a:gd name="adj" fmla="val 2581"/>
            </a:avLst>
          </a:prstGeom>
          <a:solidFill>
            <a:srgbClr val="1D2024"/>
          </a:solidFill>
          <a:ln w="12700">
            <a:solidFill>
              <a:srgbClr val="34383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49240" y="24231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7A20"/>
                </a:solidFill>
              </a:rPr>
              <a:t>THE HANDOFF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303520" y="30632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“What happens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when I go home?”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973568" y="3154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7A20"/>
                </a:solidFill>
              </a:rPr>
              <a:t>→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8732520" y="2057400"/>
            <a:ext cx="2788920" cy="3063240"/>
          </a:xfrm>
          <a:prstGeom prst="roundRect">
            <a:avLst>
              <a:gd name="adj" fmla="val 2623"/>
            </a:avLst>
          </a:prstGeom>
          <a:solidFill>
            <a:srgbClr val="1D2024"/>
          </a:solidFill>
          <a:ln w="19050">
            <a:solidFill>
              <a:srgbClr val="F47A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98280" y="242316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7A20"/>
                </a:solidFill>
              </a:rPr>
              <a:t>COMMUNITY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098280" y="297180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Peer connection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Family support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Resource navigation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Long-term belonging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94360" y="647395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70" kern="0" dirty="0">
                <a:solidFill>
                  <a:srgbClr val="777D86"/>
                </a:solidFill>
              </a:rPr>
              <a:t>LOST LIMB RIDERS  •  I CAN. I WILL.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064240" y="644652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D86"/>
                </a:solidFill>
              </a:rPr>
              <a:t>03</a:t>
            </a:r>
            <a:endParaRPr lang="en-US" sz="900" dirty="0"/>
          </a:p>
        </p:txBody>
      </p:sp>
      <p:pic>
        <p:nvPicPr>
          <p:cNvPr id="19" name="Picture 18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0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7A20"/>
          </a:solidFill>
          <a:ln w="12700">
            <a:solidFill>
              <a:srgbClr val="F47A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47A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QUESTION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1051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47A20"/>
                </a:solidFill>
              </a:rPr>
              <a:t>“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325880" y="1417320"/>
            <a:ext cx="98755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</a:rPr>
              <a:t>If one of your patients says,</a:t>
            </a:r>
            <a:endParaRPr lang="en-US" sz="2900" dirty="0"/>
          </a:p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</a:rPr>
              <a:t>“I need to talk to somebody who has actually been through this” —</a:t>
            </a:r>
            <a:endParaRPr lang="en-US" sz="2900" dirty="0"/>
          </a:p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</a:rPr>
              <a:t>what happens right now?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353312" y="397764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BDC6"/>
                </a:solidFill>
              </a:rPr>
              <a:t>If Trinity already has the pathway, we want to understand it.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B8BDC6"/>
                </a:solidFill>
              </a:rPr>
              <a:t>If there is a gap, we want to explore whether Lost Limb Riders can help.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353312" y="5257800"/>
            <a:ext cx="9235440" cy="0"/>
          </a:xfrm>
          <a:prstGeom prst="line">
            <a:avLst/>
          </a:prstGeom>
          <a:noFill/>
          <a:ln w="12700">
            <a:solidFill>
              <a:srgbClr val="34383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53312" y="5532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7A20"/>
                </a:solidFill>
              </a:rPr>
              <a:t>This is the entire reason for the conversation.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4360" y="647395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70" kern="0" dirty="0">
                <a:solidFill>
                  <a:srgbClr val="777D86"/>
                </a:solidFill>
              </a:rPr>
              <a:t>LOST LIMB RIDERS  •  I CAN. I WILL.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064240" y="644652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D86"/>
                </a:solidFill>
              </a:rPr>
              <a:t>04</a:t>
            </a:r>
            <a:endParaRPr lang="en-US" sz="900" dirty="0"/>
          </a:p>
        </p:txBody>
      </p:sp>
      <p:pic>
        <p:nvPicPr>
          <p:cNvPr id="11" name="Picture 10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0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7A20"/>
          </a:solidFill>
          <a:ln w="12700">
            <a:solidFill>
              <a:srgbClr val="F47A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47A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LLR BRINGS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D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community resource—not another clinical service.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21792" y="135331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16A"/>
                </a:solidFill>
              </a:rPr>
              <a:t>Lost Limb Riders complements the care team.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1993392"/>
            <a:ext cx="4663440" cy="3886200"/>
          </a:xfrm>
          <a:prstGeom prst="rect">
            <a:avLst/>
          </a:prstGeom>
          <a:solidFill>
            <a:srgbClr val="25282D"/>
          </a:solidFill>
          <a:ln w="12700">
            <a:solidFill>
              <a:srgbClr val="3A3E4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57984"/>
            <a:ext cx="73152" cy="3557016"/>
          </a:xfrm>
          <a:prstGeom prst="rect">
            <a:avLst/>
          </a:prstGeom>
          <a:solidFill>
            <a:srgbClr val="F47A20"/>
          </a:solidFill>
          <a:ln w="12700">
            <a:solidFill>
              <a:srgbClr val="F47A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9848" y="2404872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PEER CONNECTION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69848" y="3136392"/>
            <a:ext cx="3977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B8BDC6"/>
                </a:solidFill>
              </a:rPr>
              <a:t>Visual: amputee with peers / community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97880" y="2057400"/>
            <a:ext cx="53492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buSzPct val="100000"/>
              <a:buChar char="•"/>
            </a:pPr>
            <a:r>
              <a:rPr lang="en-US" sz="1700" dirty="0">
                <a:solidFill>
                  <a:srgbClr val="1B1D20"/>
                </a:solidFill>
              </a:rPr>
              <a:t>People with lived experience of limb loss.</a:t>
            </a:r>
            <a:endParaRPr lang="en-US" sz="1700" dirty="0"/>
          </a:p>
          <a:p>
            <a:pPr marL="203200" indent="-203200">
              <a:buSzPct val="100000"/>
              <a:buChar char="•"/>
            </a:pPr>
            <a:r>
              <a:rPr lang="en-US" sz="1700" dirty="0">
                <a:solidFill>
                  <a:srgbClr val="1B1D20"/>
                </a:solidFill>
              </a:rPr>
              <a:t>Family support and practical community resources.</a:t>
            </a:r>
            <a:endParaRPr lang="en-US" sz="1700" dirty="0"/>
          </a:p>
          <a:p>
            <a:pPr marL="203200" indent="-203200">
              <a:buSzPct val="100000"/>
              <a:buChar char="•"/>
            </a:pPr>
            <a:r>
              <a:rPr lang="en-US" sz="1700" dirty="0">
                <a:solidFill>
                  <a:srgbClr val="1B1D20"/>
                </a:solidFill>
              </a:rPr>
              <a:t>Advocacy and resource navigation.</a:t>
            </a:r>
            <a:endParaRPr lang="en-US" sz="1700" dirty="0"/>
          </a:p>
          <a:p>
            <a:pPr marL="203200" indent="-203200">
              <a:buSzPct val="100000"/>
              <a:buChar char="•"/>
            </a:pPr>
            <a:r>
              <a:rPr lang="en-US" sz="1700" dirty="0">
                <a:solidFill>
                  <a:srgbClr val="1B1D20"/>
                </a:solidFill>
              </a:rPr>
              <a:t>Connection beyond the hospital encounter.</a:t>
            </a:r>
            <a:endParaRPr lang="en-US" sz="1700" dirty="0"/>
          </a:p>
          <a:p>
            <a:pPr marL="203200" indent="-203200">
              <a:buSzPct val="100000"/>
              <a:buChar char="•"/>
            </a:pPr>
            <a:r>
              <a:rPr lang="en-US" sz="1700" dirty="0">
                <a:solidFill>
                  <a:srgbClr val="1B1D20"/>
                </a:solidFill>
              </a:rPr>
              <a:t>A community focused on confidence, independence and connection.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94360" y="647395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70" kern="0" dirty="0">
                <a:solidFill>
                  <a:srgbClr val="7A8088"/>
                </a:solidFill>
              </a:rPr>
              <a:t>LOST LIMB RIDERS  •  I CAN. I WILL.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064240" y="644652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088"/>
                </a:solidFill>
              </a:rPr>
              <a:t>05</a:t>
            </a:r>
            <a:endParaRPr lang="en-US" sz="900" dirty="0"/>
          </a:p>
        </p:txBody>
      </p:sp>
      <p:pic>
        <p:nvPicPr>
          <p:cNvPr id="13" name="Picture 12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0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7A20"/>
          </a:solidFill>
          <a:ln w="12700">
            <a:solidFill>
              <a:srgbClr val="F47A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47A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BOUNDARIES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hospital controls the clinical boundary.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21792" y="135331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BDC6"/>
                </a:solidFill>
              </a:rPr>
              <a:t>Consent, privacy and policy come first.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64008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Trinity establishes the appropriate process and requirements.</a:t>
            </a:r>
            <a:endParaRPr lang="en-US" sz="1700" dirty="0"/>
          </a:p>
          <a:p>
            <a:pPr marL="203200" indent="-2032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Patients choose whether they want Lost Limb Riders information or contact.</a:t>
            </a:r>
            <a:endParaRPr lang="en-US" sz="1700" dirty="0"/>
          </a:p>
          <a:p>
            <a:pPr marL="203200" indent="-2032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LLR does not request patient lists, charts or unnecessary medical information.</a:t>
            </a:r>
            <a:endParaRPr lang="en-US" sz="1700" dirty="0"/>
          </a:p>
          <a:p>
            <a:pPr marL="203200" indent="-2032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Any on-site presence or referral process occurs only through Trinity approval.</a:t>
            </a:r>
            <a:endParaRPr lang="en-US" sz="1700" dirty="0"/>
          </a:p>
          <a:p>
            <a:pPr marL="203200" indent="-2032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LLR follows applicable hospital rules for privacy, access, identification, infection control, patient interaction and confidentiality.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635240" y="2148840"/>
            <a:ext cx="3749040" cy="3246120"/>
          </a:xfrm>
          <a:prstGeom prst="roundRect">
            <a:avLst>
              <a:gd name="adj" fmla="val 2254"/>
            </a:avLst>
          </a:prstGeom>
          <a:solidFill>
            <a:srgbClr val="1D2024"/>
          </a:solidFill>
          <a:ln w="19050">
            <a:solidFill>
              <a:srgbClr val="F47A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0" y="26060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7A20"/>
                </a:solidFill>
              </a:rPr>
              <a:t>THE PRINCIPLE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0" y="3246120"/>
            <a:ext cx="2926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Patient choice.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Hospital-approved process.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Clear boundaries.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594360" y="647395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70" kern="0" dirty="0">
                <a:solidFill>
                  <a:srgbClr val="777D86"/>
                </a:solidFill>
              </a:rPr>
              <a:t>LOST LIMB RIDERS  •  I CAN. I WILL.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064240" y="644652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D86"/>
                </a:solidFill>
              </a:rPr>
              <a:t>06</a:t>
            </a:r>
            <a:endParaRPr lang="en-US" sz="900" dirty="0"/>
          </a:p>
        </p:txBody>
      </p:sp>
      <p:pic>
        <p:nvPicPr>
          <p:cNvPr id="12" name="Picture 11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0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7A20"/>
          </a:solidFill>
          <a:ln w="12700">
            <a:solidFill>
              <a:srgbClr val="F47A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47A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POSSIBLE 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D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small. Define the pathway. Evaluate it.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21792" y="135331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16A"/>
                </a:solidFill>
              </a:rPr>
              <a:t>Only if Trinity sees a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468880"/>
            <a:ext cx="18745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C8CD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2743200"/>
            <a:ext cx="1655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0"/>
                </a:solidFill>
              </a:rPr>
              <a:t>WOUND CARE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377440" y="28163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7A20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834640" y="2468880"/>
            <a:ext cx="18745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C8CD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2743200"/>
            <a:ext cx="1655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0"/>
                </a:solidFill>
              </a:rPr>
              <a:t>REHABILITATION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9160" y="28163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7A20"/>
                </a:solidFill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166360" y="2468880"/>
            <a:ext cx="18745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C8CD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76088" y="2743200"/>
            <a:ext cx="1655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0"/>
                </a:solidFill>
              </a:rPr>
              <a:t>PATIENT / FAMILY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D20"/>
                </a:solidFill>
              </a:rPr>
              <a:t>CHOICE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40880" y="28163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7A20"/>
                </a:solidFill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7498080" y="2468880"/>
            <a:ext cx="1874520" cy="1143000"/>
          </a:xfrm>
          <a:prstGeom prst="roundRect">
            <a:avLst>
              <a:gd name="adj" fmla="val 4800"/>
            </a:avLst>
          </a:prstGeom>
          <a:solidFill>
            <a:srgbClr val="F47A20"/>
          </a:solidFill>
          <a:ln w="12700">
            <a:solidFill>
              <a:srgbClr val="F47A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07808" y="2743200"/>
            <a:ext cx="1655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LLR PEER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CONNECTION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372600" y="28163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7A20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9829800" y="2468880"/>
            <a:ext cx="18745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C8CD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39528" y="2743200"/>
            <a:ext cx="1655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0"/>
                </a:solidFill>
              </a:rPr>
              <a:t>COMMUNITY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D20"/>
                </a:solidFill>
              </a:rPr>
              <a:t>FOLLOW-UP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34340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D20"/>
                </a:solidFill>
              </a:rPr>
              <a:t>Before launch: responsibilities • approval • consent • training • documentation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31520" y="49377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56B73"/>
                </a:solidFill>
              </a:rPr>
              <a:t>Then review results with Trinity before any expansion.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94360" y="647395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70" kern="0" dirty="0">
                <a:solidFill>
                  <a:srgbClr val="7A8088"/>
                </a:solidFill>
              </a:rPr>
              <a:t>LOST LIMB RIDERS  •  I CAN. I WILL.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64240" y="644652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088"/>
                </a:solidFill>
              </a:rPr>
              <a:t>07</a:t>
            </a:r>
            <a:endParaRPr lang="en-US" sz="900" dirty="0"/>
          </a:p>
        </p:txBody>
      </p:sp>
      <p:pic>
        <p:nvPicPr>
          <p:cNvPr id="24" name="Picture 23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0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7A20"/>
          </a:solidFill>
          <a:ln w="12700">
            <a:solidFill>
              <a:srgbClr val="F47A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47A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we need to learn from Trinity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21792" y="135331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BDC6"/>
                </a:solidFill>
              </a:rPr>
              <a:t>This meeting should produce clarity, not a sales close.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A20"/>
                </a:solidFill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80160" y="194767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What are you already doing that works?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263640" y="1965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A20"/>
                </a:solidFill>
              </a:rPr>
              <a:t>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0" y="194767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Where are patients struggling?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85800" y="2926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A20"/>
                </a:solidFill>
              </a:rPr>
              <a:t>03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290779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What do patients ask for?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263640" y="2926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A20"/>
                </a:solidFill>
              </a:rPr>
              <a:t>04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0" y="290779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What happens after discharge?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85800" y="3886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A20"/>
                </a:solidFill>
              </a:rPr>
              <a:t>05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386791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What would you want LLR to provide?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263640" y="3886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A20"/>
                </a:solidFill>
              </a:rPr>
              <a:t>06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0" y="386791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What would you NOT want LLR to do?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8580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A20"/>
                </a:solidFill>
              </a:rPr>
              <a:t>07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80160" y="482803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Who else should be part of this conversation?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94360" y="647395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70" kern="0" dirty="0">
                <a:solidFill>
                  <a:srgbClr val="777D86"/>
                </a:solidFill>
              </a:rPr>
              <a:t>LOST LIMB RIDERS  •  I CAN. I WILL.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064240" y="644652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D86"/>
                </a:solidFill>
              </a:rPr>
              <a:t>08</a:t>
            </a:r>
            <a:endParaRPr lang="en-US" sz="900" dirty="0"/>
          </a:p>
        </p:txBody>
      </p:sp>
      <p:pic>
        <p:nvPicPr>
          <p:cNvPr id="22" name="Picture 21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0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7A20"/>
          </a:solidFill>
          <a:ln w="12700">
            <a:solidFill>
              <a:srgbClr val="F47A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47A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D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practical path forward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21792" y="135331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16A"/>
                </a:solidFill>
              </a:rPr>
              <a:t>No commitment is required today.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1938528"/>
            <a:ext cx="347472" cy="347472"/>
          </a:xfrm>
          <a:prstGeom prst="ellipse">
            <a:avLst/>
          </a:prstGeom>
          <a:solidFill>
            <a:srgbClr val="F47A20"/>
          </a:solidFill>
          <a:ln w="12700">
            <a:solidFill>
              <a:srgbClr val="F47A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002536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325880" y="192024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0"/>
                </a:solidFill>
              </a:rPr>
              <a:t>Hear Trinity’s perspective.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7240" y="2596896"/>
            <a:ext cx="347472" cy="347472"/>
          </a:xfrm>
          <a:prstGeom prst="ellipse">
            <a:avLst/>
          </a:prstGeom>
          <a:solidFill>
            <a:srgbClr val="F47A20"/>
          </a:solidFill>
          <a:ln w="12700">
            <a:solidFill>
              <a:srgbClr val="F47A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660904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25880" y="2578608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D20"/>
                </a:solidFill>
              </a:rPr>
              <a:t>Document needs and opportunities.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77240" y="3255264"/>
            <a:ext cx="347472" cy="347472"/>
          </a:xfrm>
          <a:prstGeom prst="ellipse">
            <a:avLst/>
          </a:prstGeom>
          <a:solidFill>
            <a:srgbClr val="F47A20"/>
          </a:solidFill>
          <a:ln w="12700">
            <a:solidFill>
              <a:srgbClr val="F47A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319272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325880" y="3236976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D20"/>
                </a:solidFill>
              </a:rPr>
              <a:t>Review LLR handbook and program materials.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77240" y="3913632"/>
            <a:ext cx="347472" cy="347472"/>
          </a:xfrm>
          <a:prstGeom prst="ellipse">
            <a:avLst/>
          </a:prstGeom>
          <a:solidFill>
            <a:srgbClr val="F47A20"/>
          </a:solidFill>
          <a:ln w="12700">
            <a:solidFill>
              <a:srgbClr val="F47A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977640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325880" y="3895344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D20"/>
                </a:solidFill>
              </a:rPr>
              <a:t>Determine whether a formal partnership or pilot makes sense.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77240" y="4572000"/>
            <a:ext cx="347472" cy="347472"/>
          </a:xfrm>
          <a:prstGeom prst="ellipse">
            <a:avLst/>
          </a:prstGeom>
          <a:solidFill>
            <a:srgbClr val="F47A20"/>
          </a:solidFill>
          <a:ln w="12700">
            <a:solidFill>
              <a:srgbClr val="F47A2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63600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25880" y="4553712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D20"/>
                </a:solidFill>
              </a:rPr>
              <a:t>Identify Trinity’s approval pathway.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77240" y="5230368"/>
            <a:ext cx="347472" cy="347472"/>
          </a:xfrm>
          <a:prstGeom prst="ellipse">
            <a:avLst/>
          </a:prstGeom>
          <a:solidFill>
            <a:srgbClr val="F47A20"/>
          </a:solidFill>
          <a:ln w="12700">
            <a:solidFill>
              <a:srgbClr val="F47A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294376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325880" y="521208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D20"/>
                </a:solidFill>
              </a:rPr>
              <a:t>Develop a written pilot plan together if there is mutual interest.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94360" y="647395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70" kern="0" dirty="0">
                <a:solidFill>
                  <a:srgbClr val="7A8088"/>
                </a:solidFill>
              </a:rPr>
              <a:t>LOST LIMB RIDERS  •  I CAN. I WILL.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064240" y="644652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088"/>
                </a:solidFill>
              </a:rPr>
              <a:t>09</a:t>
            </a:r>
            <a:endParaRPr lang="en-US" sz="900" dirty="0"/>
          </a:p>
        </p:txBody>
      </p:sp>
      <p:pic>
        <p:nvPicPr>
          <p:cNvPr id="26" name="Picture 25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0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7A20"/>
          </a:solidFill>
          <a:ln w="12700">
            <a:solidFill>
              <a:srgbClr val="F47A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47A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12344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spc="100" kern="0" dirty="0">
                <a:solidFill>
                  <a:srgbClr val="F47A20"/>
                </a:solidFill>
              </a:rPr>
              <a:t>I CAN. I WILL.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1097280" y="2240280"/>
            <a:ext cx="9966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No one is left behind.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No one stands alone.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828800" y="406908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8BDC6"/>
                </a:solidFill>
              </a:rPr>
              <a:t>Thank you for discussing how we can better serve people affected by limb loss.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28800" y="507492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LOST LIMB RIDERS  •  FORT DODGE, IOWA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647395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70" kern="0" dirty="0">
                <a:solidFill>
                  <a:srgbClr val="777D86"/>
                </a:solidFill>
              </a:rPr>
              <a:t>LOST LIMB RIDERS  •  I CAN. I WILL.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064240" y="644652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D86"/>
                </a:solidFill>
              </a:rPr>
              <a:t>10</a:t>
            </a:r>
            <a:endParaRPr lang="en-US" sz="900" dirty="0"/>
          </a:p>
        </p:txBody>
      </p:sp>
      <p:pic>
        <p:nvPicPr>
          <p:cNvPr id="10" name="Picture 9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0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7A20"/>
          </a:solidFill>
          <a:ln w="12700">
            <a:solidFill>
              <a:srgbClr val="F47A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47A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IMAGE DIRECTION &amp; SOURCES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D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Photography sourcing notes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21792" y="135331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16A"/>
                </a:solidFill>
              </a:rPr>
              <a:t>Final photography should be licensed/downloaded from the source pages below.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7A20"/>
                </a:solidFill>
              </a:rPr>
              <a:t>Recommended hero source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D20"/>
                </a:solidFill>
              </a:rPr>
              <a:t>Pexels — “Amputee Standing between Friends Sitting on Motorcycles”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B1D20"/>
                </a:solidFill>
              </a:rPr>
              <a:t>Arshid Yousaf • Pexels photo 16804838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3246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7A20"/>
                </a:solidFill>
              </a:rPr>
              <a:t>Recommended rehabilitation source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61188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D20"/>
                </a:solidFill>
              </a:rPr>
              <a:t>Pexels — Kampus Production prosthetic-leg physical therapy series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B1D20"/>
                </a:solidFill>
              </a:rPr>
              <a:t>Pexels video/photo series around asset 6111033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48006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16A"/>
                </a:solidFill>
              </a:rPr>
              <a:t>Design note: stock images are intentionally identified rather than silently substituted with AI-generated people. The content and partnership language in this deck are grounded in Lost Limb Riders’ existing Trinity discussion deck and organizational handbook.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647395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70" kern="0" dirty="0">
                <a:solidFill>
                  <a:srgbClr val="7A8088"/>
                </a:solidFill>
              </a:rPr>
              <a:t>LOST LIMB RIDERS  •  I CAN. I WILL.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064240" y="644652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088"/>
                </a:solidFill>
              </a:rPr>
              <a:t>11</a:t>
            </a:r>
            <a:endParaRPr lang="en-US" sz="900" dirty="0"/>
          </a:p>
        </p:txBody>
      </p:sp>
      <p:pic>
        <p:nvPicPr>
          <p:cNvPr id="13" name="Picture 12" descr="logo-n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0" y="6217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Lost Limb Riders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Lost Limb Riders + Trinity Regional Medical Center</dc:title>
  <dc:subject>Healthcare Partnership Discussion</dc:subject>
  <dc:creator>Lost Limb Riders</dc:creator>
  <cp:lastModifiedBy>Lost Limb Riders</cp:lastModifiedBy>
  <cp:revision>1</cp:revision>
  <dcterms:created xsi:type="dcterms:W3CDTF">2026-09-09T14:12:13Z</dcterms:created>
  <dcterms:modified xsi:type="dcterms:W3CDTF">2026-09-09T14:12:13Z</dcterms:modified>
</cp:coreProperties>
</file>